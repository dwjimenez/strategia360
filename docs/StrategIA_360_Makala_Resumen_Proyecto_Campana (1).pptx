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53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4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"/>
            <a:ext cx="1828800" cy="1828800"/>
          </a:xfrm>
          <a:prstGeom prst="arc">
            <a:avLst/>
          </a:prstGeom>
          <a:solidFill>
            <a:srgbClr val="8B4CF6">
              <a:alpha val="0"/>
            </a:srgbClr>
          </a:solidFill>
          <a:ln w="12700">
            <a:solidFill>
              <a:srgbClr val="D7C7FF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" y="5440680"/>
            <a:ext cx="1234440" cy="1234440"/>
          </a:xfrm>
          <a:prstGeom prst="arc">
            <a:avLst/>
          </a:prstGeom>
          <a:solidFill>
            <a:srgbClr val="8B4CF6">
              <a:alpha val="0"/>
            </a:srgbClr>
          </a:solidFill>
          <a:ln w="12700">
            <a:solidFill>
              <a:srgbClr val="D7C7FF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337560" y="1325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StrategIA 360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2121408"/>
            <a:ext cx="5760720" cy="0"/>
          </a:xfrm>
          <a:prstGeom prst="line">
            <a:avLst/>
          </a:prstGeom>
          <a:noFill/>
          <a:ln w="12700">
            <a:solidFill>
              <a:srgbClr val="BBA0FF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4231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D95A"/>
                </a:solidFill>
              </a:rPr>
              <a:t>Plataforma de Inteligencia Política, Gestión Territorial e IA Electoral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48840" y="361188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App móvil · Web de gestión · Chatbot candidato virtual · Análisis con 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4600" y="4114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EEE7FF"/>
                </a:solidFill>
              </a:rPr>
              <a:t>Una solución para convertir la escucha ciudadana en datos, los datos en análisis y el análisis en acciones estratégicas de campaña.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7C7FF"/>
                </a:solidFill>
              </a:rPr>
              <a:t>Resumen Ejecutivo del Proyecto</a:t>
            </a:r>
            <a:endParaRPr 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95A7D"/>
                </a:solidFill>
                <a:latin typeface="Aptos"/>
              </a:defRPr>
            </a:pPr>
            <a:r>
              <a:t>Desarrollado por Makala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06440"/>
            <a:ext cx="1920240" cy="36576"/>
          </a:xfrm>
          <a:prstGeom prst="rect">
            <a:avLst/>
          </a:prstGeom>
          <a:solidFill>
            <a:srgbClr val="2A1547"/>
          </a:solidFill>
          <a:ln>
            <a:solidFill>
              <a:srgbClr val="2A1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5488" y="347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4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Oportunidad de la campaña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5573"/>
                </a:solidFill>
              </a:rPr>
              <a:t>Del territorio disperso a una estrategia basada en datos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738360" y="329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B4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StrategIA 360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"/>
            <a:ext cx="777240" cy="7772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" y="6172200"/>
            <a:ext cx="594360" cy="59436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5AEC6"/>
                </a:solidFill>
              </a:rPr>
              <a:t>Proyecto · Inteligencia Política, Territorio e IA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3383280" cy="4434840"/>
          </a:xfrm>
          <a:prstGeom prst="roundRect">
            <a:avLst>
              <a:gd name="adj" fmla="val 1622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73152" cy="4434840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67512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01  Información dispersa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" y="1801368"/>
            <a:ext cx="306324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La campaña recibe datos desde visitas, redes, WhatsApp, reuniones y líderes barriales, pero no siempre se consolidan en una sola fuente confiable.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389120" y="1298448"/>
            <a:ext cx="3383280" cy="4434840"/>
          </a:xfrm>
          <a:prstGeom prst="roundRect">
            <a:avLst>
              <a:gd name="adj" fmla="val 1622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0" y="1298448"/>
            <a:ext cx="73152" cy="4434840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53712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02  Decisiones lentas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801368"/>
            <a:ext cx="306324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Sin tableros ni trazabilidad, la dirección política no identifica con rapidez qué sectores priorizar, qué temas responder y qué compromisos cumplir.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275320" y="1298448"/>
            <a:ext cx="3383280" cy="4434840"/>
          </a:xfrm>
          <a:prstGeom prst="roundRect">
            <a:avLst>
              <a:gd name="adj" fmla="val 1622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75320" y="1298448"/>
            <a:ext cx="73152" cy="4434840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39912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03  Comunicación reactiva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39912" y="1801368"/>
            <a:ext cx="306324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El ciudadano pregunta, reclama o propone, pero la respuesta puede tardar o perderse. El candidato necesita una presencia virtual organizada y segura.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416552" y="5980176"/>
            <a:ext cx="3383280" cy="347472"/>
          </a:xfrm>
          <a:prstGeom prst="roundRect">
            <a:avLst>
              <a:gd name="adj" fmla="val 21053"/>
            </a:avLst>
          </a:prstGeom>
          <a:solidFill>
            <a:srgbClr val="16D1B6"/>
          </a:solidFill>
          <a:ln w="12700">
            <a:solidFill>
              <a:srgbClr val="16D1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489704" y="6076188"/>
            <a:ext cx="3236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Objetivo: escuchar, ordenar, analizar y actuar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96B4"/>
                </a:solidFill>
              </a:rPr>
              <a:t>App móvil · Web estratégica · Chatbot candidato virtual · IA</a:t>
            </a:r>
            <a:endParaRPr lang="en-US" sz="650" dirty="0"/>
          </a:p>
        </p:txBody>
      </p:sp>
      <p:sp>
        <p:nvSpPr>
          <p:cNvPr id="24" name="TextBox 23"/>
          <p:cNvSpPr txBox="1"/>
          <p:nvPr/>
        </p:nvSpPr>
        <p:spPr>
          <a:xfrm>
            <a:off x="9601200" y="201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A1547"/>
                </a:solidFill>
                <a:latin typeface="Aptos"/>
              </a:defRPr>
            </a:pPr>
            <a:r>
              <a:t>Makala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5488" y="347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4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funcional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5573"/>
                </a:solidFill>
              </a:rPr>
              <a:t>Tres canales integrados con un motor de inteligencia artificial aplicada a campaña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738360" y="329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B4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StrategIA 360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"/>
            <a:ext cx="777240" cy="7772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" y="6172200"/>
            <a:ext cx="594360" cy="59436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5AEC6"/>
                </a:solidFill>
              </a:rPr>
              <a:t>Proyecto · Inteligencia Política, Territorio e IA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090672" y="3017520"/>
            <a:ext cx="438912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199632" y="3017520"/>
            <a:ext cx="438912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308592" y="3017520"/>
            <a:ext cx="438912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2514600" cy="3840480"/>
          </a:xfrm>
          <a:prstGeom prst="roundRect">
            <a:avLst>
              <a:gd name="adj" fmla="val 2545"/>
            </a:avLst>
          </a:prstGeom>
          <a:solidFill>
            <a:srgbClr val="2D1468"/>
          </a:solidFill>
          <a:ln w="12700">
            <a:solidFill>
              <a:srgbClr val="2D14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1618488"/>
            <a:ext cx="530352" cy="530352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9536" y="17282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3774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 móvil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319272"/>
            <a:ext cx="214884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9D2EF"/>
                </a:solidFill>
              </a:rPr>
              <a:t>Captura de visitas, encuestas, necesidades, georreferenciación y seguimiento </a:t>
            </a:r>
            <a:r>
              <a:rPr lang="en-US" sz="920" dirty="0" err="1">
                <a:solidFill>
                  <a:srgbClr val="D9D2EF"/>
                </a:solidFill>
              </a:rPr>
              <a:t>en</a:t>
            </a:r>
            <a:r>
              <a:rPr lang="en-US" sz="920" dirty="0">
                <a:solidFill>
                  <a:srgbClr val="D9D2EF"/>
                </a:solidFill>
              </a:rPr>
              <a:t> </a:t>
            </a:r>
            <a:r>
              <a:rPr lang="en-US" sz="920" dirty="0" err="1">
                <a:solidFill>
                  <a:srgbClr val="D9D2EF"/>
                </a:solidFill>
              </a:rPr>
              <a:t>territorio</a:t>
            </a:r>
            <a:r>
              <a:rPr lang="en-US" sz="920" dirty="0">
                <a:solidFill>
                  <a:srgbClr val="D9D2EF"/>
                </a:solidFill>
              </a:rPr>
              <a:t>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611880" y="1417320"/>
            <a:ext cx="2514600" cy="3840480"/>
          </a:xfrm>
          <a:prstGeom prst="roundRect">
            <a:avLst>
              <a:gd name="adj" fmla="val 2545"/>
            </a:avLst>
          </a:prstGeom>
          <a:solidFill>
            <a:srgbClr val="2D1468"/>
          </a:solidFill>
          <a:ln w="12700">
            <a:solidFill>
              <a:srgbClr val="2D14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813048" y="1618488"/>
            <a:ext cx="530352" cy="530352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968496" y="17282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23774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de gestión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4760" y="3319272"/>
            <a:ext cx="214884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794760" y="356616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9D2EF"/>
                </a:solidFill>
              </a:rPr>
              <a:t>Dashboard ejecutivo, CRM ciudadano, gestión territorial, compromisos y reportes por zona.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720840" y="1417320"/>
            <a:ext cx="2514600" cy="3840480"/>
          </a:xfrm>
          <a:prstGeom prst="roundRect">
            <a:avLst>
              <a:gd name="adj" fmla="val 2545"/>
            </a:avLst>
          </a:prstGeom>
          <a:solidFill>
            <a:srgbClr val="2D1468"/>
          </a:solidFill>
          <a:ln w="12700">
            <a:solidFill>
              <a:srgbClr val="2D14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922008" y="1618488"/>
            <a:ext cx="530352" cy="530352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077456" y="17282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3774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Chatbot virtual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03720" y="3319272"/>
            <a:ext cx="214884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903720" y="356616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9D2EF"/>
                </a:solidFill>
              </a:rPr>
              <a:t>Atiende preguntas frecuentes, recibe solicitudes, explica propuestas y deriva casos críticos al equipo humano.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829800" y="1417320"/>
            <a:ext cx="1874520" cy="3840480"/>
          </a:xfrm>
          <a:prstGeom prst="roundRect">
            <a:avLst>
              <a:gd name="adj" fmla="val 3415"/>
            </a:avLst>
          </a:prstGeom>
          <a:solidFill>
            <a:srgbClr val="2D1468"/>
          </a:solidFill>
          <a:ln w="12700">
            <a:solidFill>
              <a:srgbClr val="2D14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30968" y="1618488"/>
            <a:ext cx="530352" cy="530352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186416" y="17282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12680" y="23774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IA y análisis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12680" y="3319272"/>
            <a:ext cx="150876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012680" y="3566160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9D2EF"/>
                </a:solidFill>
              </a:rPr>
              <a:t>Lineal, progresivo y reforzado para sugerir acciones, mensajes y prioridades.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31520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96B4"/>
                </a:solidFill>
              </a:rPr>
              <a:t>App móvil · Web estratégica · Chatbot candidato virtual · IA</a:t>
            </a:r>
            <a:endParaRPr lang="en-US" sz="650" dirty="0"/>
          </a:p>
        </p:txBody>
      </p:sp>
      <p:sp>
        <p:nvSpPr>
          <p:cNvPr id="37" name="TextBox 36"/>
          <p:cNvSpPr txBox="1"/>
          <p:nvPr/>
        </p:nvSpPr>
        <p:spPr>
          <a:xfrm>
            <a:off x="9601200" y="201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A1547"/>
                </a:solidFill>
                <a:latin typeface="Aptos"/>
              </a:defRPr>
            </a:pPr>
            <a:r>
              <a:t>Makala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5488" y="347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4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principales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5573"/>
                </a:solidFill>
              </a:rPr>
              <a:t>Lo que StrategIA 360 permite hacer en la operación diaria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738360" y="329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B4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StrategIA 360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"/>
            <a:ext cx="777240" cy="7772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" y="6172200"/>
            <a:ext cx="594360" cy="59436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5AEC6"/>
                </a:solidFill>
              </a:rPr>
              <a:t>Proyecto · Inteligencia Política, Territorio e IA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73152" cy="1234440"/>
          </a:xfrm>
          <a:prstGeom prst="rect">
            <a:avLst/>
          </a:prstGeom>
          <a:solidFill>
            <a:srgbClr val="16D1B6"/>
          </a:solidFill>
          <a:ln w="12700">
            <a:solidFill>
              <a:srgbClr val="16D1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67512" y="13167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Registro ciudadano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" y="1673352"/>
            <a:ext cx="32461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Datos básicos, consentimiento, intereses, necesidades y nivel general de cercanía.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315968" y="1170432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15968" y="1170432"/>
            <a:ext cx="73152" cy="1234440"/>
          </a:xfrm>
          <a:prstGeom prst="rect">
            <a:avLst/>
          </a:prstGeom>
          <a:solidFill>
            <a:srgbClr val="16D1B6"/>
          </a:solidFill>
          <a:ln w="12700">
            <a:solidFill>
              <a:srgbClr val="16D1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80560" y="13167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Visitas y territorio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1673352"/>
            <a:ext cx="32461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Control de recorridos, evidencias autorizadas, compromisos y responsables.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138160" y="1170432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138160" y="1170432"/>
            <a:ext cx="73152" cy="1234440"/>
          </a:xfrm>
          <a:prstGeom prst="rect">
            <a:avLst/>
          </a:prstGeom>
          <a:solidFill>
            <a:srgbClr val="16D1B6"/>
          </a:solidFill>
          <a:ln w="12700">
            <a:solidFill>
              <a:srgbClr val="16D1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302752" y="13167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Encuestas rápidas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02752" y="1673352"/>
            <a:ext cx="32461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Pulso ciudadano por barrio, parroquia, recinto o zona electoral.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73152" cy="1234440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7512" y="29809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Mapa de cobertura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" y="3337560"/>
            <a:ext cx="32461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Sectores visitados, pendientes, críticos y con mayor concentración de demandas.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315968" y="28346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315968" y="2834640"/>
            <a:ext cx="73152" cy="1234440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480560" y="29809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Gestión de equipos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3337560"/>
            <a:ext cx="32461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Roles, productividad y seguimiento de actividades.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138160" y="28346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38160" y="2834640"/>
            <a:ext cx="73152" cy="1234440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302752" y="29809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Comunicación estratégica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3337560"/>
            <a:ext cx="32461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 err="1">
                <a:solidFill>
                  <a:srgbClr val="5E5573"/>
                </a:solidFill>
              </a:rPr>
              <a:t>Gestíón</a:t>
            </a:r>
            <a:r>
              <a:rPr lang="en-US" sz="930" dirty="0">
                <a:solidFill>
                  <a:srgbClr val="5E5573"/>
                </a:solidFill>
              </a:rPr>
              <a:t> </a:t>
            </a:r>
            <a:r>
              <a:rPr lang="en-US" sz="930" dirty="0" err="1">
                <a:solidFill>
                  <a:srgbClr val="5E5573"/>
                </a:solidFill>
              </a:rPr>
              <a:t>masiva</a:t>
            </a:r>
            <a:r>
              <a:rPr lang="en-US" sz="930" dirty="0">
                <a:solidFill>
                  <a:srgbClr val="5E5573"/>
                </a:solidFill>
              </a:rPr>
              <a:t> de </a:t>
            </a:r>
            <a:r>
              <a:rPr lang="en-US" sz="930" dirty="0" err="1">
                <a:solidFill>
                  <a:srgbClr val="5E5573"/>
                </a:solidFill>
              </a:rPr>
              <a:t>envio</a:t>
            </a:r>
            <a:r>
              <a:rPr lang="en-US" sz="930" dirty="0">
                <a:solidFill>
                  <a:srgbClr val="5E5573"/>
                </a:solidFill>
              </a:rPr>
              <a:t> de </a:t>
            </a:r>
            <a:r>
              <a:rPr lang="en-US" sz="930" dirty="0" err="1">
                <a:solidFill>
                  <a:srgbClr val="5E5573"/>
                </a:solidFill>
              </a:rPr>
              <a:t>mensajes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2423160" y="4800600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FF7D8"/>
          </a:solidFill>
          <a:ln w="12700">
            <a:solidFill>
              <a:srgbClr val="EAD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423160" y="4800600"/>
            <a:ext cx="73152" cy="749808"/>
          </a:xfrm>
          <a:prstGeom prst="rect">
            <a:avLst/>
          </a:prstGeom>
          <a:solidFill>
            <a:srgbClr val="FFD95A"/>
          </a:solidFill>
          <a:ln w="12700">
            <a:solidFill>
              <a:srgbClr val="FFD9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587752" y="4946904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Resultado operativo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587752" y="5303520"/>
            <a:ext cx="69951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Una sola fuente de verdad para transformar datos territoriales en decisiones de campaña.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731520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96B4"/>
                </a:solidFill>
              </a:rPr>
              <a:t>App móvil · Web estratégica · Chatbot candidato virtual · IA</a:t>
            </a:r>
            <a:endParaRPr lang="en-US" sz="650" dirty="0"/>
          </a:p>
        </p:txBody>
      </p:sp>
      <p:sp>
        <p:nvSpPr>
          <p:cNvPr id="38" name="TextBox 37"/>
          <p:cNvSpPr txBox="1"/>
          <p:nvPr/>
        </p:nvSpPr>
        <p:spPr>
          <a:xfrm>
            <a:off x="9601200" y="201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A1547"/>
                </a:solidFill>
                <a:latin typeface="Aptos"/>
              </a:defRPr>
            </a:pPr>
            <a:r>
              <a:t>Makala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5488" y="347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4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político con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5573"/>
                </a:solidFill>
              </a:rPr>
              <a:t>Lectura lineal, progresiva y reforzada para decidir mejor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738360" y="329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B4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StrategIA 360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"/>
            <a:ext cx="777240" cy="7772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" y="6172200"/>
            <a:ext cx="594360" cy="59436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5AEC6"/>
                </a:solidFill>
              </a:rPr>
              <a:t>Proyecto · Inteligencia Política, Territorio e IA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85800" y="1298448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2D1468"/>
          </a:solidFill>
          <a:ln w="12700">
            <a:solidFill>
              <a:srgbClr val="2D14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86968" y="1499616"/>
            <a:ext cx="530352" cy="530352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42416" y="16093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2585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Análisis lineal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3200400"/>
            <a:ext cx="292608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447288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9D2EF"/>
                </a:solidFill>
              </a:rPr>
              <a:t>Mide datos directos: ciudadanos contactados, visitas realizadas, temas frecuentes, zonas pendientes y desempeño por equipo.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453128" y="1298448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2D1468"/>
          </a:solidFill>
          <a:ln w="12700">
            <a:solidFill>
              <a:srgbClr val="2D14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654296" y="1499616"/>
            <a:ext cx="530352" cy="530352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09744" y="16093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6008" y="22585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Análisis progresivo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36008" y="3200400"/>
            <a:ext cx="292608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36008" y="3447288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9D2EF"/>
                </a:solidFill>
              </a:rPr>
              <a:t>Compara la evolución semanal: aumento de apoyo, cambios de percepción, temas emergentes y efectividad de acciones.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211312" y="1298448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2D1468"/>
          </a:solidFill>
          <a:ln w="12700">
            <a:solidFill>
              <a:srgbClr val="2D14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412480" y="1499616"/>
            <a:ext cx="530352" cy="530352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67928" y="16093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94192" y="22585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Análisis reforzado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94192" y="3200400"/>
            <a:ext cx="292608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394192" y="3447288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9D2EF"/>
                </a:solidFill>
              </a:rPr>
              <a:t>Combina datos históricos, territorio, chatbot y modelos de IA para recomendar sectores, mensajes, agenda y estrategias.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063240" y="5870448"/>
            <a:ext cx="6080760" cy="347472"/>
          </a:xfrm>
          <a:prstGeom prst="roundRect">
            <a:avLst>
              <a:gd name="adj" fmla="val 21053"/>
            </a:avLst>
          </a:prstGeom>
          <a:solidFill>
            <a:srgbClr val="16D1B6"/>
          </a:solidFill>
          <a:ln w="12700">
            <a:solidFill>
              <a:srgbClr val="16D1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136392" y="5966460"/>
            <a:ext cx="5934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 IA propone; el equipo político valida y decide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1520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96B4"/>
                </a:solidFill>
              </a:rPr>
              <a:t>App móvil · Web estratégica · Chatbot candidato virtual · IA</a:t>
            </a:r>
            <a:endParaRPr lang="en-US" sz="650" dirty="0"/>
          </a:p>
        </p:txBody>
      </p:sp>
      <p:sp>
        <p:nvSpPr>
          <p:cNvPr id="30" name="TextBox 29"/>
          <p:cNvSpPr txBox="1"/>
          <p:nvPr/>
        </p:nvSpPr>
        <p:spPr>
          <a:xfrm>
            <a:off x="9601200" y="201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A1547"/>
                </a:solidFill>
                <a:latin typeface="Aptos"/>
              </a:defRPr>
            </a:pPr>
            <a:r>
              <a:t>Makala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5488" y="347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4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Hoja de ruta y entregables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5573"/>
                </a:solidFill>
              </a:rPr>
              <a:t>Primera versión viable para iniciar con IA, control y escalabilidad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738360" y="329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B4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StrategIA 360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"/>
            <a:ext cx="777240" cy="7772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" y="6172200"/>
            <a:ext cx="594360" cy="59436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8B4CF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5AEC6"/>
                </a:solidFill>
              </a:rPr>
              <a:t>Proyecto · Inteligencia Política, Territorio e IA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97280" y="2395728"/>
            <a:ext cx="9921240" cy="0"/>
          </a:xfrm>
          <a:prstGeom prst="line">
            <a:avLst/>
          </a:prstGeom>
          <a:noFill/>
          <a:ln w="12700">
            <a:solidFill>
              <a:srgbClr val="8B4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96112" y="2194560"/>
            <a:ext cx="402336" cy="402336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42416" y="230428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0" y="2194560"/>
            <a:ext cx="402336" cy="402336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52544" y="230428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16368" y="2194560"/>
            <a:ext cx="402336" cy="402336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662672" y="230428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826496" y="2194560"/>
            <a:ext cx="402336" cy="402336"/>
          </a:xfrm>
          <a:prstGeom prst="ellipse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972800" y="230428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788920"/>
            <a:ext cx="2514600" cy="2084832"/>
          </a:xfrm>
          <a:prstGeom prst="roundRect">
            <a:avLst>
              <a:gd name="adj" fmla="val 2632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2920" y="2788920"/>
            <a:ext cx="73152" cy="2084832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Fase 1 · MVP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" y="3291840"/>
            <a:ext cx="219456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Login por roles, registro ciudadano, visitas, encuestas, mapa básico y dashboard inicial.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337560" y="2788920"/>
            <a:ext cx="2514600" cy="2084832"/>
          </a:xfrm>
          <a:prstGeom prst="roundRect">
            <a:avLst>
              <a:gd name="adj" fmla="val 2632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337560" y="2788920"/>
            <a:ext cx="73152" cy="2084832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50215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Fase 2 · Gestión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02152" y="3291840"/>
            <a:ext cx="219456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CRM ciudadano, coordinadores territoriales, compromisos, voluntarios y reportes ejecutivos.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172200" y="2788920"/>
            <a:ext cx="2514600" cy="2084832"/>
          </a:xfrm>
          <a:prstGeom prst="roundRect">
            <a:avLst>
              <a:gd name="adj" fmla="val 2632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172200" y="2788920"/>
            <a:ext cx="73152" cy="2084832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33679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Fase 3 · Chatbot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6792" y="3291840"/>
            <a:ext cx="219456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Preguntas frecuentes, recepción de necesidades, derivación de casos y contenidos validados.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9006840" y="2788920"/>
            <a:ext cx="2697480" cy="2084832"/>
          </a:xfrm>
          <a:prstGeom prst="roundRect">
            <a:avLst>
              <a:gd name="adj" fmla="val 2632"/>
            </a:avLst>
          </a:prstGeom>
          <a:solidFill>
            <a:srgbClr val="F1ECFF"/>
          </a:solidFill>
          <a:ln w="12700">
            <a:solidFill>
              <a:srgbClr val="CFC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006840" y="2788920"/>
            <a:ext cx="73152" cy="2084832"/>
          </a:xfrm>
          <a:prstGeom prst="rect">
            <a:avLst/>
          </a:prstGeom>
          <a:solidFill>
            <a:srgbClr val="8B4CF6"/>
          </a:solidFill>
          <a:ln w="12700">
            <a:solidFill>
              <a:srgbClr val="8B4C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71432" y="2935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468"/>
                </a:solidFill>
              </a:rPr>
              <a:t>Fase 4 · IA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71432" y="3291840"/>
            <a:ext cx="237744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5573"/>
                </a:solidFill>
              </a:rPr>
              <a:t>Análisis de sentimiento, patrones territoriales, alertas y recomendaciones estratégicas.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48640" y="120700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2D1468"/>
          </a:solidFill>
          <a:ln w="12700">
            <a:solidFill>
              <a:srgbClr val="2D146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21792" y="1303020"/>
            <a:ext cx="2551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Entregables clave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15727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1468"/>
                </a:solidFill>
              </a:rPr>
              <a:t>Dashboard ejecutivo · App móvil · Chatbot candidato virtual · Reportes de campaña · Recomendaciones IA · Gobierno de datos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96B4"/>
                </a:solidFill>
              </a:rPr>
              <a:t>App móvil · Web estratégica · Chatbot candidato virtual · IA</a:t>
            </a:r>
            <a:endParaRPr lang="en-US" sz="650" dirty="0"/>
          </a:p>
        </p:txBody>
      </p:sp>
      <p:sp>
        <p:nvSpPr>
          <p:cNvPr id="38" name="Rounded Rectangle 37"/>
          <p:cNvSpPr/>
          <p:nvPr/>
        </p:nvSpPr>
        <p:spPr>
          <a:xfrm>
            <a:off x="502920" y="4982100"/>
            <a:ext cx="11201400" cy="1007220"/>
          </a:xfrm>
          <a:prstGeom prst="roundRect">
            <a:avLst/>
          </a:prstGeom>
          <a:solidFill>
            <a:srgbClr val="F2EEFC"/>
          </a:solidFill>
          <a:ln w="12700"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176016"/>
            <a:ext cx="2057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F1669"/>
                </a:solidFill>
              </a:defRPr>
            </a:pPr>
            <a:r>
              <a:t>Línea de tiempo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23160" y="5450336"/>
            <a:ext cx="7269480" cy="0"/>
          </a:xfrm>
          <a:prstGeom prst="line">
            <a:avLst/>
          </a:prstGeom>
          <a:ln w="28575">
            <a:solidFill>
              <a:srgbClr val="7E4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286000" y="5313176"/>
            <a:ext cx="274320" cy="274320"/>
          </a:xfrm>
          <a:prstGeom prst="ellipse">
            <a:avLst/>
          </a:prstGeom>
          <a:solidFill>
            <a:srgbClr val="7E47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86000" y="5354324"/>
            <a:ext cx="2743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578352"/>
            <a:ext cx="1188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0">
                <a:solidFill>
                  <a:srgbClr val="2A2152"/>
                </a:solidFill>
              </a:defRPr>
            </a:pPr>
            <a:r>
              <a:t>Alcance</a:t>
            </a:r>
          </a:p>
        </p:txBody>
      </p:sp>
      <p:sp>
        <p:nvSpPr>
          <p:cNvPr id="44" name="Oval 43"/>
          <p:cNvSpPr/>
          <p:nvPr/>
        </p:nvSpPr>
        <p:spPr>
          <a:xfrm>
            <a:off x="4297680" y="5313176"/>
            <a:ext cx="274320" cy="274320"/>
          </a:xfrm>
          <a:prstGeom prst="ellipse">
            <a:avLst/>
          </a:prstGeom>
          <a:solidFill>
            <a:srgbClr val="7E47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80" y="5354324"/>
            <a:ext cx="2743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578352"/>
            <a:ext cx="1188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0">
                <a:solidFill>
                  <a:srgbClr val="2A2152"/>
                </a:solidFill>
              </a:defRPr>
            </a:pPr>
            <a:r>
              <a:t>Activación</a:t>
            </a:r>
          </a:p>
        </p:txBody>
      </p:sp>
      <p:sp>
        <p:nvSpPr>
          <p:cNvPr id="47" name="Oval 46"/>
          <p:cNvSpPr/>
          <p:nvPr/>
        </p:nvSpPr>
        <p:spPr>
          <a:xfrm>
            <a:off x="6309360" y="5313176"/>
            <a:ext cx="274320" cy="274320"/>
          </a:xfrm>
          <a:prstGeom prst="ellipse">
            <a:avLst/>
          </a:prstGeom>
          <a:solidFill>
            <a:srgbClr val="7E47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354324"/>
            <a:ext cx="2743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578352"/>
            <a:ext cx="1188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2A2152"/>
                </a:solidFill>
              </a:defRPr>
            </a:pPr>
            <a:r>
              <a:t>MVP operativo</a:t>
            </a:r>
          </a:p>
        </p:txBody>
      </p:sp>
      <p:sp>
        <p:nvSpPr>
          <p:cNvPr id="50" name="Oval 49"/>
          <p:cNvSpPr/>
          <p:nvPr/>
        </p:nvSpPr>
        <p:spPr>
          <a:xfrm>
            <a:off x="9555480" y="5313176"/>
            <a:ext cx="274320" cy="274320"/>
          </a:xfrm>
          <a:prstGeom prst="ellipse">
            <a:avLst/>
          </a:prstGeom>
          <a:solidFill>
            <a:srgbClr val="F2D15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55480" y="5354324"/>
            <a:ext cx="2743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 b="1">
                <a:solidFill>
                  <a:srgbClr val="2F1669"/>
                </a:solidFill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5578352"/>
            <a:ext cx="1188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2A2152"/>
                </a:solidFill>
              </a:defRPr>
            </a:pPr>
            <a:r>
              <a:t>Evolución continua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86000" y="5020056"/>
            <a:ext cx="4175185" cy="256032"/>
          </a:xfrm>
          <a:prstGeom prst="roundRect">
            <a:avLst/>
          </a:prstGeom>
          <a:solidFill>
            <a:srgbClr val="7E47F5"/>
          </a:solidFill>
          <a:ln>
            <a:solidFill>
              <a:srgbClr val="7E4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Paso 1 al 3: 3 a 4 semanas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31836" y="5020741"/>
            <a:ext cx="2423160" cy="256032"/>
          </a:xfrm>
          <a:prstGeom prst="roundRect">
            <a:avLst/>
          </a:prstGeom>
          <a:solidFill>
            <a:srgbClr val="F2D15A"/>
          </a:solidFill>
          <a:ln>
            <a:solidFill>
              <a:srgbClr val="F2D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>
              <a:defRPr sz="850" b="1">
                <a:solidFill>
                  <a:srgbClr val="2F1669"/>
                </a:solidFill>
              </a:defRPr>
            </a:pPr>
            <a:r>
              <a:rPr dirty="0"/>
              <a:t>Paso 6: 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tiempo</a:t>
            </a:r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731520" y="5432048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2A2152"/>
                </a:solidFill>
              </a:defRPr>
            </a:pPr>
            <a:r>
              <a:t>Implementación inicial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01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A1547"/>
                </a:solidFill>
                <a:latin typeface="Aptos"/>
              </a:defRPr>
            </a:pPr>
            <a:r>
              <a:t>Makala</a:t>
            </a:r>
          </a:p>
        </p:txBody>
      </p:sp>
      <p:sp>
        <p:nvSpPr>
          <p:cNvPr id="57" name="Rounded Rectangle 52">
            <a:extLst>
              <a:ext uri="{FF2B5EF4-FFF2-40B4-BE49-F238E27FC236}">
                <a16:creationId xmlns:a16="http://schemas.microsoft.com/office/drawing/2014/main" id="{4A0A5174-C0D1-7527-844D-3359DEF1994E}"/>
              </a:ext>
            </a:extLst>
          </p:cNvPr>
          <p:cNvSpPr/>
          <p:nvPr/>
        </p:nvSpPr>
        <p:spPr>
          <a:xfrm>
            <a:off x="6583681" y="5026213"/>
            <a:ext cx="1188720" cy="256032"/>
          </a:xfrm>
          <a:prstGeom prst="roundRect">
            <a:avLst/>
          </a:prstGeom>
          <a:solidFill>
            <a:srgbClr val="7E47F5"/>
          </a:solidFill>
          <a:ln>
            <a:solidFill>
              <a:srgbClr val="7E4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Paso </a:t>
            </a:r>
            <a:r>
              <a:rPr lang="es-EC" dirty="0"/>
              <a:t>4 continuo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D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12680" y="-594360"/>
            <a:ext cx="2103120" cy="2103120"/>
          </a:xfrm>
          <a:prstGeom prst="ellipse">
            <a:avLst/>
          </a:prstGeom>
          <a:noFill/>
          <a:ln w="12700">
            <a:solidFill>
              <a:srgbClr val="D2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5047488"/>
            <a:ext cx="2468880" cy="2468880"/>
          </a:xfrm>
          <a:prstGeom prst="ellipse">
            <a:avLst/>
          </a:prstGeom>
          <a:noFill/>
          <a:ln w="12700">
            <a:solidFill>
              <a:srgbClr val="D2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20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099048" y="347472"/>
            <a:ext cx="0" cy="5550408"/>
          </a:xfrm>
          <a:prstGeom prst="line">
            <a:avLst/>
          </a:prstGeom>
          <a:ln w="20320">
            <a:solidFill>
              <a:srgbClr val="E8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75488"/>
            <a:ext cx="3840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E2D2FF"/>
                </a:solidFill>
                <a:latin typeface="Century Gothic"/>
              </a:rPr>
              <a:t>Inversión: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75226"/>
            <a:ext cx="484632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700" b="0" i="0">
                <a:solidFill>
                  <a:srgbClr val="FFDA5A"/>
                </a:solidFill>
                <a:latin typeface="Century Gothic"/>
              </a:rPr>
              <a:t>USD 8.000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15890"/>
            <a:ext cx="52120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ECE6FF"/>
                </a:solidFill>
                <a:latin typeface="Century Gothic"/>
              </a:rPr>
              <a:t>Implementación + infraestructura + evolución funcional con 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1955386"/>
            <a:ext cx="2788920" cy="0"/>
          </a:xfrm>
          <a:prstGeom prst="line">
            <a:avLst/>
          </a:prstGeom>
          <a:ln w="15240">
            <a:solidFill>
              <a:srgbClr val="A17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" y="2339434"/>
            <a:ext cx="2788920" cy="0"/>
          </a:xfrm>
          <a:prstGeom prst="line">
            <a:avLst/>
          </a:prstGeom>
          <a:ln w="15240">
            <a:solidFill>
              <a:srgbClr val="A17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2988658"/>
            <a:ext cx="38404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1D3FF"/>
                </a:solidFill>
                <a:latin typeface="Century Gothic"/>
              </a:rPr>
              <a:t>Incluye: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509866"/>
            <a:ext cx="1828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509866"/>
            <a:ext cx="4572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0" b="0" i="0">
                <a:solidFill>
                  <a:srgbClr val="FFFFFF"/>
                </a:solidFill>
                <a:latin typeface="Century Gothic"/>
              </a:rPr>
              <a:t>Plataforma web de gestión de campaña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11618"/>
            <a:ext cx="1828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811618"/>
            <a:ext cx="4572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0" b="0" i="0">
                <a:solidFill>
                  <a:srgbClr val="FFFFFF"/>
                </a:solidFill>
                <a:latin typeface="Century Gothic"/>
              </a:rPr>
              <a:t>App móvil para captura territorial de información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13370"/>
            <a:ext cx="1828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4113370"/>
            <a:ext cx="4572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0" b="0" i="0">
                <a:solidFill>
                  <a:srgbClr val="FFFFFF"/>
                </a:solidFill>
                <a:latin typeface="Century Gothic"/>
              </a:rPr>
              <a:t>Chatbot candidato virtual y base de respuestas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15122"/>
            <a:ext cx="1828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415122"/>
            <a:ext cx="4572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0" b="0" i="0">
                <a:solidFill>
                  <a:srgbClr val="FFFFFF"/>
                </a:solidFill>
                <a:latin typeface="Century Gothic"/>
              </a:rPr>
              <a:t>Infraestructura técnica administrada por nuestro equipo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716874"/>
            <a:ext cx="1828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entury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716874"/>
            <a:ext cx="4572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0" b="0" i="0" dirty="0" err="1">
                <a:solidFill>
                  <a:srgbClr val="FFFFFF"/>
                </a:solidFill>
                <a:latin typeface="Century Gothic"/>
              </a:rPr>
              <a:t>Incorporación</a:t>
            </a:r>
            <a:r>
              <a:rPr sz="1220" b="0" i="0" dirty="0">
                <a:solidFill>
                  <a:srgbClr val="FFFFFF"/>
                </a:solidFill>
                <a:latin typeface="Century Gothic"/>
              </a:rPr>
              <a:t> de </a:t>
            </a:r>
            <a:r>
              <a:rPr sz="1220" b="0" i="0" dirty="0" err="1">
                <a:solidFill>
                  <a:srgbClr val="FFFFFF"/>
                </a:solidFill>
                <a:latin typeface="Century Gothic"/>
              </a:rPr>
              <a:t>nuevas</a:t>
            </a:r>
            <a:r>
              <a:rPr sz="1220" b="0" i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220" b="0" i="0" dirty="0" err="1">
                <a:solidFill>
                  <a:srgbClr val="FFFFFF"/>
                </a:solidFill>
                <a:latin typeface="Century Gothic"/>
              </a:rPr>
              <a:t>funcionalidades</a:t>
            </a:r>
            <a:r>
              <a:rPr sz="1220" b="0" i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220" b="0" i="0" dirty="0" err="1">
                <a:solidFill>
                  <a:srgbClr val="FFFFFF"/>
                </a:solidFill>
                <a:latin typeface="Century Gothic"/>
              </a:rPr>
              <a:t>durante</a:t>
            </a:r>
            <a:r>
              <a:rPr sz="1220" b="0" i="0" dirty="0">
                <a:solidFill>
                  <a:srgbClr val="FFFFFF"/>
                </a:solidFill>
                <a:latin typeface="Century Gothic"/>
              </a:rPr>
              <a:t> la </a:t>
            </a:r>
            <a:r>
              <a:rPr sz="1220" b="0" i="0" dirty="0" err="1">
                <a:solidFill>
                  <a:srgbClr val="FFFFFF"/>
                </a:solidFill>
                <a:latin typeface="Century Gothic"/>
              </a:rPr>
              <a:t>campaña</a:t>
            </a:r>
            <a:endParaRPr sz="1220" b="0" i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19088" y="475488"/>
            <a:ext cx="4572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E2D2FF"/>
                </a:solidFill>
                <a:latin typeface="Century Gothic"/>
              </a:rPr>
              <a:t>Oferta de trabajo: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914400"/>
            <a:ext cx="5538376" cy="3877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60" b="0" i="0" dirty="0">
                <a:solidFill>
                  <a:srgbClr val="ECE6FF"/>
                </a:solidFill>
                <a:latin typeface="Century Gothic"/>
              </a:rPr>
              <a:t>Una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solución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lista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para usar, sin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que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el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equipo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de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campaña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tenga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que</a:t>
            </a:r>
            <a:endParaRPr lang="es-EC" sz="1260" b="0" i="0" dirty="0">
              <a:solidFill>
                <a:srgbClr val="ECE6FF"/>
              </a:solidFill>
              <a:latin typeface="Century Gothic"/>
            </a:endParaRPr>
          </a:p>
          <a:p>
            <a:pPr algn="l"/>
            <a:r>
              <a:rPr sz="1260" b="0" i="0" dirty="0">
                <a:solidFill>
                  <a:srgbClr val="ECE6FF"/>
                </a:solidFill>
                <a:latin typeface="Century Gothic"/>
              </a:rPr>
              <a:t>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administrar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servidores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,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despliegues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 o bases de </a:t>
            </a:r>
            <a:r>
              <a:rPr sz="1260" b="0" i="0" dirty="0" err="1">
                <a:solidFill>
                  <a:srgbClr val="ECE6FF"/>
                </a:solidFill>
                <a:latin typeface="Century Gothic"/>
              </a:rPr>
              <a:t>datos</a:t>
            </a:r>
            <a:r>
              <a:rPr sz="1260" b="0" i="0" dirty="0">
                <a:solidFill>
                  <a:srgbClr val="ECE6FF"/>
                </a:solidFill>
                <a:latin typeface="Century Gothic"/>
              </a:rPr>
              <a:t>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29400" y="1892807"/>
            <a:ext cx="0" cy="3392425"/>
          </a:xfrm>
          <a:prstGeom prst="line">
            <a:avLst/>
          </a:prstGeom>
          <a:ln w="12700">
            <a:solidFill>
              <a:srgbClr val="E7E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373368" y="1828800"/>
            <a:ext cx="512064" cy="512064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1947672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236AA"/>
                </a:solidFill>
                <a:latin typeface="Century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1847088"/>
            <a:ext cx="3931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entury Gothic"/>
              </a:rPr>
              <a:t>Validación de alcance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121408"/>
            <a:ext cx="4675960" cy="3323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Reunión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 breve para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confirmar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prioridades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,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usuarios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,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módulos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iniciales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 </a:t>
            </a:r>
            <a:endParaRPr lang="es-EC" sz="1080" b="0" i="0" dirty="0">
              <a:solidFill>
                <a:srgbClr val="E6DEFF"/>
              </a:solidFill>
              <a:latin typeface="Century Gothic"/>
            </a:endParaRPr>
          </a:p>
          <a:p>
            <a:pPr algn="l"/>
            <a:r>
              <a:rPr sz="1080" b="0" i="0" dirty="0">
                <a:solidFill>
                  <a:srgbClr val="E6DEFF"/>
                </a:solidFill>
                <a:latin typeface="Century Gothic"/>
              </a:rPr>
              <a:t>y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cronograma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 de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activación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.</a:t>
            </a:r>
          </a:p>
        </p:txBody>
      </p:sp>
      <p:sp>
        <p:nvSpPr>
          <p:cNvPr id="30" name="Oval 29"/>
          <p:cNvSpPr/>
          <p:nvPr/>
        </p:nvSpPr>
        <p:spPr>
          <a:xfrm>
            <a:off x="6373368" y="2990088"/>
            <a:ext cx="512064" cy="512064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0528" y="3108960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236AA"/>
                </a:solidFill>
                <a:latin typeface="Century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008376"/>
            <a:ext cx="3931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entury Gothic"/>
              </a:rPr>
              <a:t>Activación de la plataforma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282696"/>
            <a:ext cx="4603824" cy="3323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Configuramos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 app, web, chatbot, base de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datos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,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accesos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, hosting, </a:t>
            </a:r>
            <a:endParaRPr lang="es-EC" sz="1080" b="0" i="0" dirty="0">
              <a:solidFill>
                <a:srgbClr val="E6DEFF"/>
              </a:solidFill>
              <a:latin typeface="Century Gothic"/>
            </a:endParaRPr>
          </a:p>
          <a:p>
            <a:pPr algn="l"/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seguridad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,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respaldos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 y </a:t>
            </a:r>
            <a:r>
              <a:rPr sz="1080" b="0" i="0" dirty="0" err="1">
                <a:solidFill>
                  <a:srgbClr val="E6DEFF"/>
                </a:solidFill>
                <a:latin typeface="Century Gothic"/>
              </a:rPr>
              <a:t>monitoreo</a:t>
            </a:r>
            <a:r>
              <a:rPr sz="1080" b="0" i="0" dirty="0">
                <a:solidFill>
                  <a:srgbClr val="E6DEFF"/>
                </a:solidFill>
                <a:latin typeface="Century Gothic"/>
              </a:rPr>
              <a:t>.</a:t>
            </a:r>
          </a:p>
        </p:txBody>
      </p:sp>
      <p:sp>
        <p:nvSpPr>
          <p:cNvPr id="34" name="Oval 33"/>
          <p:cNvSpPr/>
          <p:nvPr/>
        </p:nvSpPr>
        <p:spPr>
          <a:xfrm>
            <a:off x="6373368" y="4151376"/>
            <a:ext cx="512064" cy="512064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4270248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236AA"/>
                </a:solidFill>
                <a:latin typeface="Century Gothic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169663"/>
            <a:ext cx="3931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 i="0">
                <a:solidFill>
                  <a:srgbClr val="FFFFFF"/>
                </a:solidFill>
                <a:latin typeface="Century Gothic"/>
              </a:rPr>
              <a:t>Evolución durante campaña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443984"/>
            <a:ext cx="4251960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80" b="0" i="0">
                <a:solidFill>
                  <a:srgbClr val="E6DEFF"/>
                </a:solidFill>
                <a:latin typeface="Century Gothic"/>
              </a:rPr>
              <a:t>Acompañamos la operación y agregamos nuevas funcionalidades según las necesidades reales del territorio.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382512"/>
            <a:ext cx="5120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Makala · StrategIA 360 · Inteligencia Política y Gestión Territorial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6382512"/>
            <a:ext cx="374903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Propuesta ejecutiva · Makala · StrategIA 360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1854802"/>
            <a:ext cx="5120640" cy="795528"/>
          </a:xfrm>
          <a:prstGeom prst="roundRect">
            <a:avLst/>
          </a:prstGeom>
          <a:solidFill>
            <a:srgbClr val="452F6D"/>
          </a:solidFill>
          <a:ln w="13970">
            <a:solidFill>
              <a:srgbClr val="FF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1982818"/>
            <a:ext cx="4663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Forma de pago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2247994"/>
            <a:ext cx="1371600" cy="347472"/>
          </a:xfrm>
          <a:prstGeom prst="roundRect">
            <a:avLst/>
          </a:prstGeom>
          <a:solidFill>
            <a:srgbClr val="2C1C4E"/>
          </a:solidFill>
          <a:ln w="12700">
            <a:solidFill>
              <a:srgbClr val="FF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2275426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BE78"/>
                </a:solidFill>
              </a:rPr>
              <a:t>40%</a:t>
            </a:r>
          </a:p>
          <a:p>
            <a:pPr algn="ctr"/>
            <a:r>
              <a:rPr sz="850">
                <a:solidFill>
                  <a:srgbClr val="EBE8F6"/>
                </a:solidFill>
              </a:rPr>
              <a:t>Inicio del proyecto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59152" y="2247994"/>
            <a:ext cx="1371600" cy="347472"/>
          </a:xfrm>
          <a:prstGeom prst="roundRect">
            <a:avLst/>
          </a:prstGeom>
          <a:solidFill>
            <a:srgbClr val="2C1C4E"/>
          </a:solidFill>
          <a:ln w="12700">
            <a:solidFill>
              <a:srgbClr val="FF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08161" y="2156273"/>
            <a:ext cx="673581" cy="5309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FBE78"/>
                </a:solidFill>
              </a:rPr>
              <a:t>30%</a:t>
            </a:r>
          </a:p>
          <a:p>
            <a:pPr algn="ctr"/>
            <a:r>
              <a:rPr lang="es-EC" sz="850" dirty="0">
                <a:solidFill>
                  <a:srgbClr val="EBE8F6"/>
                </a:solidFill>
              </a:rPr>
              <a:t>2do mes</a:t>
            </a:r>
            <a:endParaRPr sz="850" dirty="0">
              <a:solidFill>
                <a:srgbClr val="EBE8F6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895344" y="2247994"/>
            <a:ext cx="1371600" cy="347472"/>
          </a:xfrm>
          <a:prstGeom prst="roundRect">
            <a:avLst/>
          </a:prstGeom>
          <a:solidFill>
            <a:srgbClr val="2C1C4E"/>
          </a:solidFill>
          <a:ln w="12700">
            <a:solidFill>
              <a:srgbClr val="FF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44352" y="2156273"/>
            <a:ext cx="673582" cy="5309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FBE78"/>
                </a:solidFill>
              </a:rPr>
              <a:t>30%</a:t>
            </a:r>
          </a:p>
          <a:p>
            <a:pPr algn="ctr"/>
            <a:r>
              <a:rPr lang="es-EC" sz="850" dirty="0">
                <a:solidFill>
                  <a:srgbClr val="EBE8F6"/>
                </a:solidFill>
              </a:rPr>
              <a:t>3er mes</a:t>
            </a:r>
            <a:endParaRPr sz="850" dirty="0">
              <a:solidFill>
                <a:srgbClr val="EBE8F6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01200" y="2011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Makala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894</Words>
  <Application>Microsoft Office PowerPoint</Application>
  <PresentationFormat>Panorámica</PresentationFormat>
  <Paragraphs>150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de campaña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Civis360 - Plataforma de inteligencia política</dc:title>
  <dc:subject>Plataforma informática para campaña política</dc:subject>
  <dc:creator>OpenAI</dc:creator>
  <cp:lastModifiedBy>Darwin Jiménez</cp:lastModifiedBy>
  <cp:revision>2</cp:revision>
  <dcterms:created xsi:type="dcterms:W3CDTF">2026-05-22T05:48:16Z</dcterms:created>
  <dcterms:modified xsi:type="dcterms:W3CDTF">2026-05-22T20:03:41Z</dcterms:modified>
</cp:coreProperties>
</file>